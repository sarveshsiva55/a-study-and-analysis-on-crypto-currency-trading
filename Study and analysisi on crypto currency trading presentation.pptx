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9" r:id="rId10"/>
    <p:sldId id="263" r:id="rId11"/>
    <p:sldId id="264" r:id="rId12"/>
    <p:sldId id="265" r:id="rId13"/>
    <p:sldId id="267" r:id="rId14"/>
    <p:sldId id="268" r:id="rId15"/>
    <p:sldId id="270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04556-C16B-4469-975C-6EE0ECE7146A}" v="213" dt="2025-04-07T19:43:25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01660-E709-4CDE-BB16-996CE4D1BB70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D4D58-886C-404B-B9A4-FF3753401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2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D4D58-886C-404B-B9A4-FF37534017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6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20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59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33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65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28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1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20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66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78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43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35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722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77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96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77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25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57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51302F-F094-4B82-A1FF-66410A65839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AC0D4-BBE7-49AA-8A1C-01FD41681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45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8327-E68A-8924-2162-6128BE328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914815"/>
            <a:ext cx="8825658" cy="2531880"/>
          </a:xfrm>
        </p:spPr>
        <p:txBody>
          <a:bodyPr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AND ANALYSIS ON CRYPTOCURRENCY TRADING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82A70-E7E8-7AA7-20FD-03D7AB297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3726978"/>
            <a:ext cx="8825658" cy="2693719"/>
          </a:xfrm>
        </p:spPr>
        <p:txBody>
          <a:bodyPr>
            <a:normAutofit/>
          </a:bodyPr>
          <a:lstStyle/>
          <a:p>
            <a:pPr algn="ctr"/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pPr algn="ctr"/>
            <a:r>
              <a:rPr lang="en-IN" sz="16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Sarvesh.V</a:t>
            </a:r>
            <a:endParaRPr lang="en-IN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22BDA041</a:t>
            </a:r>
          </a:p>
          <a:p>
            <a:pPr algn="ctr"/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sz="16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Dr.R.Kavitha</a:t>
            </a:r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M.Sc., M.Phil., Ph.D., </a:t>
            </a:r>
            <a:endParaRPr lang="en-IN" sz="1600" cap="none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&amp; Head of Department</a:t>
            </a:r>
          </a:p>
          <a:p>
            <a:pPr algn="ctr"/>
            <a:r>
              <a:rPr lang="en-IN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with Data Analytics</a:t>
            </a:r>
          </a:p>
          <a:p>
            <a:pPr algn="ctr"/>
            <a:endParaRPr lang="en-US" sz="16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13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5FD8-6728-C2D5-EFA8-5AEF0C65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D7C01-0C5D-F410-6D35-1CF8D1B04DEA}"/>
              </a:ext>
            </a:extLst>
          </p:cNvPr>
          <p:cNvSpPr>
            <a:spLocks/>
          </p:cNvSpPr>
          <p:nvPr>
            <p:ph type="body" idx="1"/>
          </p:nvPr>
        </p:nvSpPr>
        <p:spPr>
          <a:xfrm>
            <a:off x="456485" y="1981200"/>
            <a:ext cx="2946866" cy="576262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ED239-07C2-46E9-EB54-EBB3E3810F3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Organize the structure of the cryptocurrency prediction model.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FB4193-4A2E-AB52-CCA0-A269FD2ECD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BA8500-885D-C3F9-329F-A40BC715D4CE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Autofit/>
          </a:bodyPr>
          <a:lstStyle/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constraints and to develop the design of the algorithms of Linear Regression, Polynomial Regression, Random Forest,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structured way.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39DA93-579E-0C9F-238A-108CDFEDF4FF}"/>
              </a:ext>
            </a:extLst>
          </p:cNvPr>
          <p:cNvSpPr>
            <a:spLocks/>
          </p:cNvSpPr>
          <p:nvPr>
            <p:ph type="body" sz="quarter" idx="13"/>
          </p:nvPr>
        </p:nvSpPr>
        <p:spPr>
          <a:xfrm>
            <a:off x="7333246" y="1981200"/>
            <a:ext cx="2932113" cy="5762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183B5C-E761-8CC9-406A-53B750CE95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half" idx="17"/>
          </p:nvPr>
        </p:nvSpPr>
        <p:spPr/>
        <p:txBody>
          <a:bodyPr>
            <a:noAutofit/>
          </a:bodyPr>
          <a:lstStyle/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the fully functional cryptocurrency prediction model with the algorithms.</a:t>
            </a:r>
          </a:p>
        </p:txBody>
      </p:sp>
      <p:pic>
        <p:nvPicPr>
          <p:cNvPr id="1026" name="Picture 2" descr="Cryptocurrency Regulations in India: Navigating the Legal and Compliance  Landscape for Businesses – COMMERCIAL LAW BLOG">
            <a:extLst>
              <a:ext uri="{FF2B5EF4-FFF2-40B4-BE49-F238E27FC236}">
                <a16:creationId xmlns:a16="http://schemas.microsoft.com/office/drawing/2014/main" id="{FF760F56-CC50-8C88-4965-21BB003A71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106" y="2730435"/>
            <a:ext cx="2946794" cy="165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 descr="Monitor">
            <a:extLst>
              <a:ext uri="{FF2B5EF4-FFF2-40B4-BE49-F238E27FC236}">
                <a16:creationId xmlns:a16="http://schemas.microsoft.com/office/drawing/2014/main" id="{DA6CE3DB-7801-EE38-54E0-713FF5FAE8AE}"/>
              </a:ext>
            </a:extLst>
          </p:cNvPr>
          <p:cNvSpPr/>
          <p:nvPr/>
        </p:nvSpPr>
        <p:spPr>
          <a:xfrm>
            <a:off x="359171" y="2665651"/>
            <a:ext cx="3205890" cy="1788612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 rad="165100">
              <a:schemeClr val="accent3">
                <a:alpha val="78000"/>
              </a:schemeClr>
            </a:glow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028" name="Picture 4" descr="Download Free Machine Learning Generic Blue icon Icons in ...">
            <a:extLst>
              <a:ext uri="{FF2B5EF4-FFF2-40B4-BE49-F238E27FC236}">
                <a16:creationId xmlns:a16="http://schemas.microsoft.com/office/drawing/2014/main" id="{C45C3E11-2765-EC12-CD38-CE69FF75D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881" y="2591939"/>
            <a:ext cx="1936035" cy="193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52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4E4C-C258-0773-03A2-7F9B62C7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97" y="292298"/>
            <a:ext cx="9404723" cy="1400530"/>
          </a:xfrm>
        </p:spPr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E25EEF-03F7-1AEA-1CB7-AC48B7F730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660" y="1804609"/>
            <a:ext cx="1167056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research focuses on enhancing cryptocurrency price prediction using machine learning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Algorithms applied include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Forest, Linear Regression, and Polynomial Regression.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Historical cryptocurrency data is analyzed to detect trends and patterns influencing price movements.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is evaluated using accuracy metrics before and after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study identifies the most effective algorithm to support traders and analysts in making informed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915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18F7-4176-1402-1CEB-EA9909D7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59" y="388550"/>
            <a:ext cx="9404723" cy="830649"/>
          </a:xfrm>
        </p:spPr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875D8-0350-9B7B-5D25-C5FE5D594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540038"/>
            <a:ext cx="10899778" cy="5590674"/>
          </a:xfrm>
        </p:spPr>
        <p:txBody>
          <a:bodyPr>
            <a:no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Builds multiple decision trees to boost prediction accuracy and reduce overfitting.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Libraries: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RandomForestRegressor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matplotlib.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Tuning: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split using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hyperparameters optimized via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MAE, MSE, and R² Score for model accuracy.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Plotted actual vs predicted prices using Matplotlib to assess performance visually.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62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BE81-746B-BE1D-698E-6B89E9B9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17" y="388550"/>
            <a:ext cx="9404723" cy="1400530"/>
          </a:xfrm>
        </p:spPr>
        <p:txBody>
          <a:bodyPr/>
          <a:lstStyle/>
          <a:p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9ABD-EDB6-7254-B245-C3ECB8905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02" y="1652335"/>
            <a:ext cx="11353384" cy="5013157"/>
          </a:xfrm>
        </p:spPr>
        <p:txBody>
          <a:bodyPr>
            <a:norm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Gradient boosting model known for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speed, accuracy, and scalability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Sequentially builds decision trees, learning from errors to refine predictions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Feature Engineering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Historical prices, trading volume, market sentiment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Model Tuning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Learning rate, max depth, number of estimators (Cross-Valid)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Accuracy Improved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From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8960 to 9051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(~1.01% increase)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Visualization Tools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Matplotlib, Seaborn,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trend analysis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Ideal for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volatile markets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capturing complex patterns and improving decision-making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665108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2201-4F65-65C1-F2E3-A3566C42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23" y="356466"/>
            <a:ext cx="11433594" cy="1400530"/>
          </a:xfrm>
        </p:spPr>
        <p:txBody>
          <a:bodyPr/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FECA9-5016-63FD-133D-661303F90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267326"/>
            <a:ext cx="10900757" cy="5590674"/>
          </a:xfrm>
        </p:spPr>
        <p:txBody>
          <a:bodyPr>
            <a:norm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Modeling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nonlinear relationships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higher-degree polynomial terms.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Useful for capturing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curved trends and market cycles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volatile crypto data.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Initial Accuracy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-3.6301 (due to overfitting and lack of regularization).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Feature Engineering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Transformed inputs into polynomial features; selected key indicators.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Model Training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Applied optimized polynomial degrees with data smoothing.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Optimization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Regularization, scaling, and degree tuning to prevent overfitting.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Accuracy Improved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From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-3.6301 to 9597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performance gains.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Ideal for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medium-term trend analysis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 reversal detection.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90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F8EE-EE52-8059-5F32-5B3F6263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17" y="452718"/>
            <a:ext cx="10102100" cy="1400530"/>
          </a:xfrm>
        </p:spPr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B2752-B4C3-B436-0E5A-DC17562CD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379622"/>
            <a:ext cx="10920246" cy="5478378"/>
          </a:xfrm>
        </p:spPr>
        <p:txBody>
          <a:bodyPr>
            <a:norm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Establishes a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relationship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features (open price, volume, etc.) and price.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Used as a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trends and assess more complex algorithms.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Initial Accuracy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3679 (low due to crypto's non-linear nature).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Preprocessing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Feature selection, normalization, outlier removal.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Model Training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Applied least squares method for line fitting.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Optimization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Tuned learning rates and improved feature inputs.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Accuracy Improved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From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3679 to 9681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+163.26%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Best for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short-term trend analysis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benchmark comparison.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48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7567-4697-E507-DF0B-9A3C5A76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&amp; Proposed 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AF12C0-FFC7-A501-F584-742885A321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320635"/>
              </p:ext>
            </p:extLst>
          </p:nvPr>
        </p:nvGraphicFramePr>
        <p:xfrm>
          <a:off x="646111" y="1543050"/>
          <a:ext cx="10792053" cy="4939393"/>
        </p:xfrm>
        <a:graphic>
          <a:graphicData uri="http://schemas.openxmlformats.org/drawingml/2006/table">
            <a:tbl>
              <a:tblPr/>
              <a:tblGrid>
                <a:gridCol w="2693082">
                  <a:extLst>
                    <a:ext uri="{9D8B030D-6E8A-4147-A177-3AD203B41FA5}">
                      <a16:colId xmlns:a16="http://schemas.microsoft.com/office/drawing/2014/main" val="4284194108"/>
                    </a:ext>
                  </a:extLst>
                </a:gridCol>
                <a:gridCol w="3616778">
                  <a:extLst>
                    <a:ext uri="{9D8B030D-6E8A-4147-A177-3AD203B41FA5}">
                      <a16:colId xmlns:a16="http://schemas.microsoft.com/office/drawing/2014/main" val="3226798073"/>
                    </a:ext>
                  </a:extLst>
                </a:gridCol>
                <a:gridCol w="4482193">
                  <a:extLst>
                    <a:ext uri="{9D8B030D-6E8A-4147-A177-3AD203B41FA5}">
                      <a16:colId xmlns:a16="http://schemas.microsoft.com/office/drawing/2014/main" val="300399177"/>
                    </a:ext>
                  </a:extLst>
                </a:gridCol>
              </a:tblGrid>
              <a:tr h="35281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505533"/>
                  </a:ext>
                </a:extLst>
              </a:tr>
              <a:tr h="80643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Approach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traditional statistical methods or basic linear models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machine learning models (XGBoost, Random Forest, Linear &amp; Polynomial Regression)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53956"/>
                  </a:ext>
                </a:extLst>
              </a:tr>
              <a:tr h="65522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Market Volatility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handling of non-linearity and high volatility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tailored to capture complex and nonlinear patterns in crypto data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892464"/>
                  </a:ext>
                </a:extLst>
              </a:tr>
              <a:tr h="80643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Usage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or unoptimized historical data usage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preprocessing, feature selection, and normalization of historical data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893408"/>
                  </a:ext>
                </a:extLst>
              </a:tr>
              <a:tr h="65522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&amp; Performance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accuracy, prone to overfitting/underfitting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through hyperparameter tuning and model evaluation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048336"/>
                  </a:ext>
                </a:extLst>
              </a:tr>
              <a:tr h="65522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Evaluation &amp; Comparison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Rarely compared across multiple models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evaluation and comparison of multiple ML models for best performance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428945"/>
                  </a:ext>
                </a:extLst>
              </a:tr>
              <a:tr h="50402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 or static plots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visualizations using Matplotlib, Seaborn, and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Plotly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819808"/>
                  </a:ext>
                </a:extLst>
              </a:tr>
              <a:tr h="50402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Support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insights for investors and traders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Actionable, data-driven insights for smarter investment decisions</a:t>
                      </a:r>
                    </a:p>
                  </a:txBody>
                  <a:tcPr marL="42814" marR="42814" marT="21407" marB="2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52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382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" name="Rectangle 7187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ACE14-615D-2A29-6C82-10E77DFC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11" y="2677875"/>
            <a:ext cx="4166510" cy="162232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sp>
        <p:nvSpPr>
          <p:cNvPr id="7190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92" name="Freeform: Shape 7191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170" name="Picture 2" descr="Generated image">
            <a:extLst>
              <a:ext uri="{FF2B5EF4-FFF2-40B4-BE49-F238E27FC236}">
                <a16:creationId xmlns:a16="http://schemas.microsoft.com/office/drawing/2014/main" id="{D8C8087A-4332-E01A-C7C6-051F53634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64371" y="120073"/>
            <a:ext cx="6078698" cy="673792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94" name="Rectangle 7193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5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7" name="Picture 7196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199" name="Picture 7198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201" name="Oval 720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203" name="Picture 7202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205" name="Picture 7204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7207" name="Rectangle 7206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8AB7F-74DC-83D8-9628-42AC2414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891551"/>
            <a:ext cx="3515927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dirty="0"/>
              <a:t>Data Flow </a:t>
            </a:r>
            <a:br>
              <a:rPr lang="en-US" sz="5100" dirty="0"/>
            </a:br>
            <a:r>
              <a:rPr lang="en-US" sz="5100" dirty="0"/>
              <a:t>Algorithm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776929C7-00AA-DBFB-32AA-43BD20D9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252"/>
          <a:stretch/>
        </p:blipFill>
        <p:spPr bwMode="auto">
          <a:xfrm>
            <a:off x="3986982" y="0"/>
            <a:ext cx="820501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09" name="Rectangle 7208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40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8222-06D2-EE5D-38E2-36216C39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44C35-BBCF-C462-4043-F35679E5E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00144"/>
            <a:ext cx="10899778" cy="5145033"/>
          </a:xfrm>
        </p:spPr>
        <p:txBody>
          <a:bodyPr>
            <a:no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Prediction Accuracy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price forecasting using optimized ML models tailored for crypto market behavior.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Investment Decisions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Empowered traders with accurate trend analysis, minimizing speculation.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Algorithm Evaluation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multiple models to identify the most effective approach for different scenarios.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Insights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Uncovered historical patterns to support timely and strategic trading decisions.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Boosted Analytical Efficiency: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Streamlined data handling and model tuning for faster, more accurate results.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924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4CF5-578D-60E1-4E6E-3E0B99007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65" y="404592"/>
            <a:ext cx="9404723" cy="1400530"/>
          </a:xfrm>
        </p:spPr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47569-3B6D-3402-EA06-260CC0CC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299411"/>
            <a:ext cx="10900757" cy="5277853"/>
          </a:xfrm>
        </p:spPr>
        <p:txBody>
          <a:bodyPr>
            <a:norm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Market Volatility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Crypto markets are highly unpredictable, requiring robust models to handle sudden fluctuations.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Overfitting in Complex Models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Polynomial and ensemble models initially overfit the training data, leading to poor generalization—highlighting the importance of regularization and validation.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Complexity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 most impactful features from large datasets was critical and required extensive testing and domain understanding.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Demands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Achieving optimal accuracy involved time-consuming tuning processes, teaching the value of grid search and cross-validation.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for Insight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Translating raw predictions into actionable insights through clear graphs improved interpretation and guided better decision-making.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661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5EC3-EFBD-E51B-E08C-CAB93EB6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39EC1E05-1911-F7CD-376E-8F8869E10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2" y="1405869"/>
            <a:ext cx="5449888" cy="2508405"/>
          </a:xfrm>
          <a:prstGeom prst="rect">
            <a:avLst/>
          </a:prstGeom>
        </p:spPr>
      </p:pic>
      <p:pic>
        <p:nvPicPr>
          <p:cNvPr id="6" name="Picture 5" descr="A graph showing a line graph&#10;&#10;Description automatically generated with medium confidence">
            <a:extLst>
              <a:ext uri="{FF2B5EF4-FFF2-40B4-BE49-F238E27FC236}">
                <a16:creationId xmlns:a16="http://schemas.microsoft.com/office/drawing/2014/main" id="{A807AC7C-EAD9-258E-AA54-28397C382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405869"/>
            <a:ext cx="5449888" cy="2508406"/>
          </a:xfrm>
          <a:prstGeom prst="rect">
            <a:avLst/>
          </a:prstGeom>
        </p:spPr>
      </p:pic>
      <p:pic>
        <p:nvPicPr>
          <p:cNvPr id="8" name="Picture 7" descr="A graph showing a line graph&#10;&#10;Description automatically generated with medium confidence">
            <a:extLst>
              <a:ext uri="{FF2B5EF4-FFF2-40B4-BE49-F238E27FC236}">
                <a16:creationId xmlns:a16="http://schemas.microsoft.com/office/drawing/2014/main" id="{1965DD97-01AF-31D3-1739-D6DECFE4F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9" y="3914274"/>
            <a:ext cx="5449889" cy="2491008"/>
          </a:xfrm>
          <a:prstGeom prst="rect">
            <a:avLst/>
          </a:prstGeom>
        </p:spPr>
      </p:pic>
      <p:pic>
        <p:nvPicPr>
          <p:cNvPr id="10" name="Picture 9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588584A3-543C-0338-E484-63E92B741E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3724442"/>
            <a:ext cx="5449888" cy="268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18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5558-E741-0157-99B9-C1C0EE37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CE264-890E-296A-4FB6-4FAF89F87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623467" cy="4195481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Deep Learning Models.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for Market Trends Utilizing Natural Language Processing (NLP) 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Data Augmentation 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Approach 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Trading Bot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12992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5120E-4D4E-D896-33F1-E48BD282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ECCE-6EBA-0A7E-ABFA-6184667D5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477736"/>
            <a:ext cx="10636932" cy="5110843"/>
          </a:xfrm>
        </p:spPr>
        <p:txBody>
          <a:bodyPr>
            <a:normAutofit fontScale="85000" lnSpcReduction="10000"/>
          </a:bodyPr>
          <a:lstStyle/>
          <a:p>
            <a:pPr marL="457200" indent="-457200" algn="just">
              <a:buAutoNum type="arabicPeriod"/>
            </a:pPr>
            <a:r>
              <a:rPr lang="en-US" dirty="0"/>
              <a:t>"Crypto Technical Analysis: It's More Than a Chart: An Investing Guide for Beginners to Detect Blockchain Scams, Pick Digital Currencies Using Charting, </a:t>
            </a:r>
            <a:r>
              <a:rPr lang="en-US" dirty="0" err="1"/>
              <a:t>Tokenomics</a:t>
            </a:r>
            <a:r>
              <a:rPr lang="en-US" dirty="0"/>
              <a:t>, and Various Trading Strategies", Author: Charles G. </a:t>
            </a:r>
            <a:r>
              <a:rPr lang="en-US" dirty="0" err="1"/>
              <a:t>Koonitz</a:t>
            </a:r>
            <a:r>
              <a:rPr lang="en-US" dirty="0"/>
              <a:t>, Publication Year: March 2023,                                      Retrieved from https://www.amazon.com/dp/B0BXQ6BYR8 </a:t>
            </a:r>
          </a:p>
          <a:p>
            <a:pPr marL="457200" indent="-457200" algn="just">
              <a:buAutoNum type="arabicPeriod"/>
            </a:pPr>
            <a:r>
              <a:rPr lang="en-US" dirty="0"/>
              <a:t>"Crypto Trading: A Complete Guide to Risk Management and Trading Strategies", Author: Joseph Barrel, Publication Year: January 2025,                                                                       Retrieved from https://www.amazon.com/dp/B0C4RZ9YFJ </a:t>
            </a:r>
          </a:p>
          <a:p>
            <a:pPr marL="457200" indent="-457200" algn="just">
              <a:buAutoNum type="arabicPeriod"/>
            </a:pPr>
            <a:r>
              <a:rPr lang="en-US" dirty="0"/>
              <a:t>A Comprehensive Analysis of Machine Learning Models for Algorithmic Trading of Bitcoin", Authors: Abdul Jabbar, Syed Qaisar Jalil, Publication Year: 2020,                                                Retrieved from https://ieeexplore.ieee.org/document/9103176 </a:t>
            </a:r>
          </a:p>
          <a:p>
            <a:pPr marL="457200" indent="-457200" algn="just">
              <a:buAutoNum type="arabicPeriod"/>
            </a:pPr>
            <a:r>
              <a:rPr lang="en-US" dirty="0"/>
              <a:t>“AI and Crypto: Enhancing Market Predictions with Machine Learning", Authors: </a:t>
            </a:r>
            <a:r>
              <a:rPr lang="en-US" dirty="0" err="1"/>
              <a:t>Niravkumar</a:t>
            </a:r>
            <a:r>
              <a:rPr lang="en-US" dirty="0"/>
              <a:t> </a:t>
            </a:r>
            <a:r>
              <a:rPr lang="en-US" dirty="0" err="1"/>
              <a:t>Dhameliya</a:t>
            </a:r>
            <a:r>
              <a:rPr lang="en-US" dirty="0"/>
              <a:t>, Bhavik Patel, Publication Year: 2021, Retrieved from https://link.springer.com/chapter/10.1007/978-3-030-70575-1_9</a:t>
            </a:r>
          </a:p>
          <a:p>
            <a:pPr marL="457200" indent="-457200" algn="just">
              <a:buAutoNum type="arabicPeriod"/>
            </a:pPr>
            <a:r>
              <a:rPr lang="en-US" dirty="0"/>
              <a:t>"Forecasting and Trading Cryptocurrencies with Machine Learning under Changing Market Conditions", Author: Pedro </a:t>
            </a:r>
            <a:r>
              <a:rPr lang="en-US" dirty="0" err="1"/>
              <a:t>Gohinro</a:t>
            </a:r>
            <a:r>
              <a:rPr lang="en-US" dirty="0"/>
              <a:t>, Publication Year: 2022, Retrieved from https://arxiv.org/abs/2203.12345</a:t>
            </a:r>
          </a:p>
          <a:p>
            <a:pPr marL="457200" indent="-457200" algn="just">
              <a:buAutoNum type="arabicPeriod"/>
            </a:pPr>
            <a:r>
              <a:rPr lang="en-US" dirty="0"/>
              <a:t>"Forecasting the Bitcoin Price Using Various Machine Learning Techniques", Authors: Payam </a:t>
            </a:r>
            <a:r>
              <a:rPr lang="en-US" dirty="0" err="1"/>
              <a:t>Boozary</a:t>
            </a:r>
            <a:r>
              <a:rPr lang="en-US" dirty="0"/>
              <a:t>, </a:t>
            </a:r>
            <a:r>
              <a:rPr lang="en-US" dirty="0" err="1"/>
              <a:t>Sogand</a:t>
            </a:r>
            <a:r>
              <a:rPr lang="en-US" dirty="0"/>
              <a:t> </a:t>
            </a:r>
            <a:r>
              <a:rPr lang="en-US" dirty="0" err="1"/>
              <a:t>Sheykhan</a:t>
            </a:r>
            <a:r>
              <a:rPr lang="en-US" dirty="0"/>
              <a:t>, Retrieved from https://ieeexplore.ieee.org/document/9141234</a:t>
            </a:r>
          </a:p>
        </p:txBody>
      </p:sp>
    </p:spTree>
    <p:extLst>
      <p:ext uri="{BB962C8B-B14F-4D97-AF65-F5344CB8AC3E}">
        <p14:creationId xmlns:p14="http://schemas.microsoft.com/office/powerpoint/2010/main" val="708508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4CC6-AE58-E983-0645-969A35CC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014" y="2752012"/>
            <a:ext cx="9865972" cy="1353975"/>
          </a:xfrm>
        </p:spPr>
        <p:txBody>
          <a:bodyPr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5293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312</TotalTime>
  <Words>1185</Words>
  <Application>Microsoft Office PowerPoint</Application>
  <PresentationFormat>Widescreen</PresentationFormat>
  <Paragraphs>169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Century Gothic</vt:lpstr>
      <vt:lpstr>Times New Roman</vt:lpstr>
      <vt:lpstr>Wingdings 3</vt:lpstr>
      <vt:lpstr>Ion</vt:lpstr>
      <vt:lpstr>STUDY AND ANALYSIS ON CRYPTOCURRENCY TRADING </vt:lpstr>
      <vt:lpstr>Objective</vt:lpstr>
      <vt:lpstr>Abstract</vt:lpstr>
      <vt:lpstr>Random Forest Algorithm</vt:lpstr>
      <vt:lpstr>Xgboost Algorithm</vt:lpstr>
      <vt:lpstr>Polynomial Regression Algorithm</vt:lpstr>
      <vt:lpstr>Linear Regression Algorithm</vt:lpstr>
      <vt:lpstr>Existing &amp; Proposed System</vt:lpstr>
      <vt:lpstr>Module</vt:lpstr>
      <vt:lpstr>Data Flow  Algorithm</vt:lpstr>
      <vt:lpstr>Impacts &amp; Benefits</vt:lpstr>
      <vt:lpstr>Challenges &amp; Learnings</vt:lpstr>
      <vt:lpstr>Screenshots</vt:lpstr>
      <vt:lpstr>Future Enhancement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 V</dc:creator>
  <cp:lastModifiedBy>SARVESH V</cp:lastModifiedBy>
  <cp:revision>4</cp:revision>
  <dcterms:created xsi:type="dcterms:W3CDTF">2025-04-07T14:37:11Z</dcterms:created>
  <dcterms:modified xsi:type="dcterms:W3CDTF">2025-04-07T19:49:20Z</dcterms:modified>
</cp:coreProperties>
</file>